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0"/>
  </p:notesMasterIdLst>
  <p:sldIdLst>
    <p:sldId id="256" r:id="rId2"/>
    <p:sldId id="257" r:id="rId3"/>
    <p:sldId id="258" r:id="rId4"/>
    <p:sldId id="268" r:id="rId5"/>
    <p:sldId id="269" r:id="rId6"/>
    <p:sldId id="259" r:id="rId7"/>
    <p:sldId id="261" r:id="rId8"/>
    <p:sldId id="260" r:id="rId9"/>
    <p:sldId id="270" r:id="rIdAppendedSlide9"/>
    <p:sldId id="271" r:id="rIdAppendedSlide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428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7"/>
    <p:restoredTop sz="94659"/>
  </p:normalViewPr>
  <p:slideViewPr>
    <p:cSldViewPr snapToGrid="0">
      <p:cViewPr varScale="1">
        <p:scale>
          <a:sx n="142" d="100"/>
          <a:sy n="142" d="100"/>
        </p:scale>
        <p:origin x="184" y="2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 Id="rIdAppendedSlide9" Type="http://schemas.openxmlformats.org/officeDocument/2006/relationships/slide" Target="slides/slide9.xml"/><Relationship Id="rIdAppendedSlide10"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Type="http://schemas.openxmlformats.org/officeDocument/2006/relationships/slide" Target="../slides/slide9.xml" Id="R21f8e46ea3fc4e22"/><Relationship Type="http://schemas.openxmlformats.org/officeDocument/2006/relationships/notesMaster" Target="../notesMasters/notesMaster1.xml" Id="R0a0a4c35e1ac45c3"/></Relationships>
</file>

<file path=ppt/notesSlides/_rels/notesSlide10.xml.rels><?xml version="1.0" encoding="UTF-8"?><Relationships xmlns="http://schemas.openxmlformats.org/package/2006/relationships"><Relationship Type="http://schemas.openxmlformats.org/officeDocument/2006/relationships/slide" Target="../slides/slide10.xml" Id="Rd9ac84c5bc2d4f8c"/><Relationship Type="http://schemas.openxmlformats.org/officeDocument/2006/relationships/notesMaster" Target="../notesMasters/notesMaster1.xml" Id="Rd838c48a36824c97"/></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h4f9fc4a5df16ec28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h4f9fc4a5df16ec28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h4f9fc4a5df16ec28_1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h4f9fc4a5df16ec28_1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h4f9fc4a5df16ec28_1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h4f9fc4a5df16ec28_1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9EA18732-7F97-406B-8B6D-8C86BB38187D}"/>
            </a:ext>
          </a:extLst>
        </p:cNvPr>
        <p:cNvGrpSpPr/>
        <p:nvPr/>
      </p:nvGrpSpPr>
      <p:grpSpPr>
        <a:xfrm>
          <a:off x="0" y="0"/>
          <a:ext cx="0" cy="0"/>
          <a:chOff x="0" y="0"/>
          <a:chExt cx="0" cy="0"/>
        </a:xfrm>
      </p:grpSpPr>
      <p:sp>
        <p:nvSpPr>
          <p:cNvPr id="68" name="Google Shape;68;h4f9fc4a5df16ec28_16_0:notes">
            <a:extLst>
              <a:ext uri="{FF2B5EF4-FFF2-40B4-BE49-F238E27FC236}">
                <a16:creationId xmlns:a16="http://schemas.microsoft.com/office/drawing/2014/main" id="{70C065E9-3A1B-9842-6AC3-B23376A013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h4f9fc4a5df16ec28_16_0:notes">
            <a:extLst>
              <a:ext uri="{FF2B5EF4-FFF2-40B4-BE49-F238E27FC236}">
                <a16:creationId xmlns:a16="http://schemas.microsoft.com/office/drawing/2014/main" id="{75EA4973-4F22-ADE3-BFED-2C922D5A63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5011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33C9C5DA-9208-E97E-FE19-A32AD5EB9925}"/>
            </a:ext>
          </a:extLst>
        </p:cNvPr>
        <p:cNvGrpSpPr/>
        <p:nvPr/>
      </p:nvGrpSpPr>
      <p:grpSpPr>
        <a:xfrm>
          <a:off x="0" y="0"/>
          <a:ext cx="0" cy="0"/>
          <a:chOff x="0" y="0"/>
          <a:chExt cx="0" cy="0"/>
        </a:xfrm>
      </p:grpSpPr>
      <p:sp>
        <p:nvSpPr>
          <p:cNvPr id="83" name="Google Shape;83;h4f9fc4a5df16ec28_15_0:notes">
            <a:extLst>
              <a:ext uri="{FF2B5EF4-FFF2-40B4-BE49-F238E27FC236}">
                <a16:creationId xmlns:a16="http://schemas.microsoft.com/office/drawing/2014/main" id="{E621AD82-9B0E-A71C-613D-8774BAEB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h4f9fc4a5df16ec28_15_0:notes">
            <a:extLst>
              <a:ext uri="{FF2B5EF4-FFF2-40B4-BE49-F238E27FC236}">
                <a16:creationId xmlns:a16="http://schemas.microsoft.com/office/drawing/2014/main" id="{D6410904-2242-EEA4-A86D-9EADFF6E5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310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h4f9fc4a5df16ec28_1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h4f9fc4a5df16ec28_1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h4f9fc4a5df16ec28_1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h4f9fc4a5df16ec28_1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h7579294426da76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h7579294426da76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IMPLEMENTATION STEP. The current results described by the presenter use an artificial delay pipeline. This slide proposes a LEO module, rather than reporting an already validated satellite network.</a:t>
            </a:r>
          </a:p>
          <a:p xmlns:a="http://schemas.openxmlformats.org/drawingml/2006/main">
            <a:r>
              <a:t/>
            </a:r>
          </a:p>
          <a:p xmlns:a="http://schemas.openxmlformats.org/drawingml/2006/main">
            <a:r>
              <a:t>Orbital source: CelesTrak, GP Data Formats, https://celestrak.org/NORAD/documentation/gp-data-formats.php . Starlink GP/OMM elements are inputs to SGP4 propagation. Their propagation gives geometric visibility, slant range and range rate. It does not reveal Starlink's actual serving assignments, gateway routing or spectrum allocation. Store the acquisition time, orbital epoch and source hash. An elevation threshold and serving-contact selection rule must be explicit simulation assumptions. Doppler can be calculated as f_D = -(f_c/c) times the line-of-sight range rate, with an explicitly stated sign convention and carrier frequency.</a:t>
            </a:r>
          </a:p>
          <a:p xmlns:a="http://schemas.openxmlformats.org/drawingml/2006/main">
            <a:r>
              <a:t/>
            </a:r>
          </a:p>
          <a:p xmlns:a="http://schemas.openxmlformats.org/drawingml/2006/main">
            <a:r>
              <a:t>Measured latency source: Johan Garcia and Simon Sundberg, A Detailed Characterization of Starlink One-way Delay, 2025, https://zenodo.org/records/16275284 . The recordings use hardware-timestamped uplink and downlink traffic collected in Karlstad, Sweden, in April 2025. Preserve direction, trace timestamps, nanosecond units, source hash and the selected continuous segment. These are end-to-end recordings. When replaying a trace, replace the corresponding modeled delay instead of adding modeled propagation or queueing again. Missing sequence numbers alone do not establish packet loss. Delay spikes alone do not establish a confirmed handover. Treat geographical transfer to Mont-Tremblant as an assumption to test, not a local measurement.</a:t>
            </a:r>
          </a:p>
          <a:p xmlns:a="http://schemas.openxmlformats.org/drawingml/2006/main">
            <a:r>
              <a:t/>
            </a:r>
          </a:p>
          <a:p xmlns:a="http://schemas.openxmlformats.org/drawingml/2006/main">
            <a:r>
              <a:t>Start with a single-satellite relay only while that satellite has valid contacts to the UAV and the modeled gateway. Gateway location is configurable. The optical inter-satellite links mentioned in the draft paper remain a subsequent extension. Capacities and individual handshake durations need sensitivity studies or independently supported measurements.</a:t>
            </a:r>
          </a:p>
          <a:p xmlns:a="http://schemas.openxmlformats.org/drawingml/2006/main">
            <a:r>
              <a:t/>
            </a:r>
          </a:p>
          <a:p xmlns:a="http://schemas.openxmlformats.org/drawingml/2006/main">
            <a:r>
              <a:t>Paper reference: Irem Bor-Yaliniz, Arman Dogru and Georges Kaddoum, Joint SAGIN Resource Allocation and MAPF for Digital Twin Supported Remote Robotic Applications, supplied draft Remote_Robotic_Satellite.pdf, Sections I and II. The draft includes unresolved channel and downlink parameters, so it supplies the modeling framework rather than a calibrated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IMPLEMENTATION AND EXPERIMENTS.</a:t>
            </a:r>
          </a:p>
          <a:p xmlns:a="http://schemas.openxmlformats.org/drawingml/2006/main">
            <a:r>
              <a:t/>
            </a:r>
          </a:p>
          <a:p xmlns:a="http://schemas.openxmlformats.org/drawingml/2006/main">
            <a:r>
              <a:t>Paper reference: Irem Bor-Yaliniz, Arman Dogru and Georges Kaddoum, Joint SAGIN Resource Allocation and MAPF for Digital Twin Supported Remote Robotic Applications, supplied draft Remote_Robotic_Satellite.pdf.</a:t>
            </a:r>
          </a:p>
          <a:p xmlns:a="http://schemas.openxmlformats.org/drawingml/2006/main">
            <a:r>
              <a:t/>
            </a:r>
          </a:p>
          <a:p xmlns:a="http://schemas.openxmlformats.org/drawingml/2006/main">
            <a:r>
              <a:t>Section I defines D_i = {s_i, c_i, tau_i}, with s_i in bits, c_i in CPU cycles per bit and tau_i in seconds. Section II, equations (1)-(4), specifies free-space path loss plus additional attenuation and Shannon-style link rates R = B log2(1+SNR), with linear SNR and bandwidth B in Hz. Equations (5)-(7) combine payload transmission s_i/R, compute time s_i*c_i/f and satellite propagation. Here f is the CPU allocation in cycles per second. Section III introduces power, CPU capacity and task-deadline constraints. These are the starting formulations for task offloading and resource allocation.</a:t>
            </a:r>
          </a:p>
          <a:p xmlns:a="http://schemas.openxmlformats.org/drawingml/2006/main">
            <a:r>
              <a:t/>
            </a:r>
          </a:p>
          <a:p xmlns:a="http://schemas.openxmlformats.org/drawingml/2006/main">
            <a:r>
              <a:t>The draft's cloud-latency expression is a simplified UAV-satellite model. Explicit gateway visibility, the gateway/cloud leg, return-message payload sizes, uplink and downlink queues and individual handshakes are proposed extensions. For a modeled route, calculate propagation as the sum of each radio leg's geometric length divided by c. Add transmission per leg, queue waiting time, processing and interruption/buffering time with an event simulator. A trace-driven end-to-end mode instead replaces the matching modeled delay. Do not double-count propagation or queueing already contained in a measured trace.</a:t>
            </a:r>
          </a:p>
          <a:p xmlns:a="http://schemas.openxmlformats.org/drawingml/2006/main">
            <a:r>
              <a:t/>
            </a:r>
          </a:p>
          <a:p xmlns:a="http://schemas.openxmlformats.org/drawingml/2006/main">
            <a:r>
              <a:t>Experiments: first validate the transport against orbital contacts and the observed one-way delay distribution. Keep mission-information staleness at frozen-policy inference separate from learning transport delays. In the first group, compare perfect communication with stale absolute A* guidance, stale intentions, stale priorities and their combination under identical cases and seeds. In the second group, keep mission inputs fresh and compare clean training, delayed experience upload, delayed model deployment and combined delays. Agents continue acting with cached data or fully received model snapshots. The learner uses received complete experience tuples only. This avoids mixing different causes of degradation.</a:t>
            </a:r>
          </a:p>
          <a:p xmlns:a="http://schemas.openxmlformats.org/drawingml/2006/main">
            <a:r>
              <a:t/>
            </a:r>
          </a:p>
          <a:p xmlns:a="http://schemas.openxmlformats.org/drawingml/2006/main">
            <a:r>
              <a:t>Report success, makespan, failure-aware PAR-2, information age, model-version lag and task-deadline misses. Resource-allocation follow-up: compare FIFO/equal service with declared priority allocation under matched traffic, before optimizing UAV/cloud offloading. Energy is a later outcome once transmit power and computation-energy parameters are grounded. The existing partial baseline has not qualified every curriculum phase, so its mission comparisons remain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h4f9fc4a5df16ec28_6_0)">
  <p:cSld name="Generated (h4f9fc4a5df16ec28_6_0)">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415611" y="992767"/>
            <a:ext cx="11360800" cy="27368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2" name="Google Shape;12;p3"/>
          <p:cNvSpPr txBox="1">
            <a:spLocks noGrp="1"/>
          </p:cNvSpPr>
          <p:nvPr>
            <p:ph type="subTitle" idx="1"/>
          </p:nvPr>
        </p:nvSpPr>
        <p:spPr>
          <a:xfrm>
            <a:off x="415600" y="3778833"/>
            <a:ext cx="11360800" cy="10568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3" name="Google Shape;13;p3"/>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15600" y="2867800"/>
            <a:ext cx="11360800" cy="11224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4"/>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9" name="Google Shape;19;p5"/>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0" name="Google Shape;20;p5"/>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3" name="Google Shape;23;p6"/>
          <p:cNvSpPr txBox="1">
            <a:spLocks noGrp="1"/>
          </p:cNvSpPr>
          <p:nvPr>
            <p:ph type="body" idx="1"/>
          </p:nvPr>
        </p:nvSpPr>
        <p:spPr>
          <a:xfrm>
            <a:off x="415600" y="1536633"/>
            <a:ext cx="53332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4" name="Google Shape;24;p6"/>
          <p:cNvSpPr txBox="1">
            <a:spLocks noGrp="1"/>
          </p:cNvSpPr>
          <p:nvPr>
            <p:ph type="body" idx="2"/>
          </p:nvPr>
        </p:nvSpPr>
        <p:spPr>
          <a:xfrm>
            <a:off x="6443200" y="1536633"/>
            <a:ext cx="53332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5" name="Google Shape;25;p6"/>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8" name="Google Shape;28;p7"/>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15600" y="740800"/>
            <a:ext cx="3744000" cy="10076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1" name="Google Shape;31;p8"/>
          <p:cNvSpPr txBox="1">
            <a:spLocks noGrp="1"/>
          </p:cNvSpPr>
          <p:nvPr>
            <p:ph type="body" idx="1"/>
          </p:nvPr>
        </p:nvSpPr>
        <p:spPr>
          <a:xfrm>
            <a:off x="415600" y="1852800"/>
            <a:ext cx="3744000" cy="42392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2" name="Google Shape;32;p8"/>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653667" y="600200"/>
            <a:ext cx="8490400" cy="54544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5" name="Google Shape;35;p9"/>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8" name="Google Shape;38;p10"/>
          <p:cNvSpPr txBox="1">
            <a:spLocks noGrp="1"/>
          </p:cNvSpPr>
          <p:nvPr>
            <p:ph type="title"/>
          </p:nvPr>
        </p:nvSpPr>
        <p:spPr>
          <a:xfrm>
            <a:off x="354000" y="1644233"/>
            <a:ext cx="53936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9" name="Google Shape;39;p10"/>
          <p:cNvSpPr txBox="1">
            <a:spLocks noGrp="1"/>
          </p:cNvSpPr>
          <p:nvPr>
            <p:ph type="subTitle" idx="1"/>
          </p:nvPr>
        </p:nvSpPr>
        <p:spPr>
          <a:xfrm>
            <a:off x="354000" y="3737433"/>
            <a:ext cx="5393600" cy="16468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0" name="Google Shape;40;p10"/>
          <p:cNvSpPr txBox="1">
            <a:spLocks noGrp="1"/>
          </p:cNvSpPr>
          <p:nvPr>
            <p:ph type="body" idx="2"/>
          </p:nvPr>
        </p:nvSpPr>
        <p:spPr>
          <a:xfrm>
            <a:off x="6586000" y="965433"/>
            <a:ext cx="5116000" cy="49268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1" name="Google Shape;41;p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1"/>
          <p:cNvSpPr txBox="1">
            <a:spLocks noGrp="1"/>
          </p:cNvSpPr>
          <p:nvPr>
            <p:ph type="body" idx="1"/>
          </p:nvPr>
        </p:nvSpPr>
        <p:spPr>
          <a:xfrm>
            <a:off x="415600" y="5640767"/>
            <a:ext cx="7998400" cy="8068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4" name="Google Shape;44;p11"/>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2"/>
          <p:cNvSpPr txBox="1">
            <a:spLocks noGrp="1"/>
          </p:cNvSpPr>
          <p:nvPr>
            <p:ph type="title" hasCustomPrompt="1"/>
          </p:nvPr>
        </p:nvSpPr>
        <p:spPr>
          <a:xfrm>
            <a:off x="415600" y="1474833"/>
            <a:ext cx="11360800" cy="26180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7" name="Google Shape;47;p12"/>
          <p:cNvSpPr txBox="1">
            <a:spLocks noGrp="1"/>
          </p:cNvSpPr>
          <p:nvPr>
            <p:ph type="body" idx="1"/>
          </p:nvPr>
        </p:nvSpPr>
        <p:spPr>
          <a:xfrm>
            <a:off x="415600" y="4202967"/>
            <a:ext cx="11360800" cy="17344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48" name="Google Shape;48;p12"/>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3"/>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6610" y="6217622"/>
            <a:ext cx="731600" cy="5248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Type="http://schemas.openxmlformats.org/officeDocument/2006/relationships/slideLayout" Target="../slideLayouts/slideLayout1.xml" Id="R09b2c86327e84ba3"/><Relationship Type="http://schemas.openxmlformats.org/officeDocument/2006/relationships/hyperlink" Target="https://celestrak.org/NORAD/documentation/gp-data-formats.php" TargetMode="External" Id="R0c23c6413c814579"/><Relationship Type="http://schemas.openxmlformats.org/officeDocument/2006/relationships/hyperlink" Target="https://zenodo.org/records/16275284" TargetMode="External" Id="R6a45a0b5c45742f5"/><Relationship Type="http://schemas.openxmlformats.org/officeDocument/2006/relationships/notesSlide" Target="../notesSlides/notesSlide9.xml" Id="R6c186c0a3c6d45e4"/><Relationship Id="rIdTemplateBackground" Type="http://schemas.openxmlformats.org/officeDocument/2006/relationships/image" Target="../media/image1.png"/></Relationships>
</file>

<file path=ppt/slides/_rels/slide10.xml.rels><?xml version="1.0" encoding="UTF-8"?><Relationships xmlns="http://schemas.openxmlformats.org/package/2006/relationships"><Relationship Type="http://schemas.openxmlformats.org/officeDocument/2006/relationships/slideLayout" Target="../slideLayouts/slideLayout1.xml" Id="Rc548525363184259"/><Relationship Type="http://schemas.openxmlformats.org/officeDocument/2006/relationships/notesSlide" Target="../notesSlides/notesSlide10.xml" Id="Rd5378ebc9e4f4a58"/><Relationship Id="rIdTemplateBackground"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4"/>
          <p:cNvSpPr txBox="1"/>
          <p:nvPr/>
        </p:nvSpPr>
        <p:spPr>
          <a:xfrm>
            <a:off x="614249" y="666750"/>
            <a:ext cx="6844500" cy="1905000"/>
          </a:xfrm>
          <a:prstGeom prst="rect">
            <a:avLst/>
          </a:prstGeom>
          <a:noFill/>
          <a:ln>
            <a:noFill/>
          </a:ln>
        </p:spPr>
        <p:txBody>
          <a:bodyPr spcFirstLastPara="1" wrap="square" lIns="0" tIns="0" rIns="0" bIns="0" anchor="t" anchorCtr="0">
            <a:noAutofit/>
          </a:bodyPr>
          <a:lstStyle/>
          <a:p>
            <a:pPr marL="0" lvl="0" indent="0" algn="l" rtl="0">
              <a:spcBef>
                <a:spcPts val="0"/>
              </a:spcBef>
              <a:spcAft>
                <a:spcPts val="750"/>
              </a:spcAft>
              <a:buNone/>
            </a:pPr>
            <a:r>
              <a:rPr lang="en" sz="2800" b="0" dirty="0">
                <a:solidFill>
                  <a:srgbClr val="1D1D1A"/>
                </a:solidFill>
                <a:latin typeface="Arial"/>
                <a:ea typeface="Arial"/>
                <a:cs typeface="Arial"/>
                <a:sym typeface="Arial"/>
              </a:rPr>
              <a:t>Impacts of Network Conditions in MAPF and Continuous Learning</a:t>
            </a:r>
            <a:endParaRPr sz="2800" b="0" dirty="0">
              <a:solidFill>
                <a:srgbClr val="1D1D1A"/>
              </a:solidFill>
              <a:latin typeface="Arial"/>
              <a:ea typeface="Arial"/>
              <a:cs typeface="Arial"/>
              <a:sym typeface="Arial"/>
            </a:endParaRPr>
          </a:p>
        </p:txBody>
      </p:sp>
      <p:sp>
        <p:nvSpPr>
          <p:cNvPr id="56" name="Google Shape;56;p14"/>
          <p:cNvSpPr txBox="1"/>
          <p:nvPr/>
        </p:nvSpPr>
        <p:spPr>
          <a:xfrm>
            <a:off x="614250" y="2000250"/>
            <a:ext cx="6535800" cy="1143000"/>
          </a:xfrm>
          <a:prstGeom prst="rect">
            <a:avLst/>
          </a:prstGeom>
          <a:noFill/>
          <a:ln>
            <a:noFill/>
          </a:ln>
        </p:spPr>
        <p:txBody>
          <a:bodyPr spcFirstLastPara="1" wrap="square" lIns="91400" tIns="45700" rIns="91400" bIns="45700" anchor="t" anchorCtr="0">
            <a:noAutofit/>
          </a:bodyPr>
          <a:lstStyle/>
          <a:p>
            <a:pPr marL="0" lvl="0" indent="0" algn="l" rtl="0">
              <a:spcBef>
                <a:spcPts val="0"/>
              </a:spcBef>
              <a:spcAft>
                <a:spcPts val="0"/>
              </a:spcAft>
              <a:buNone/>
            </a:pPr>
            <a:r>
              <a:rPr lang="en" sz="1400" b="0" dirty="0">
                <a:solidFill>
                  <a:srgbClr val="1D1D1A"/>
                </a:solidFill>
                <a:latin typeface="Arial"/>
                <a:ea typeface="Arial"/>
                <a:cs typeface="Arial"/>
                <a:sym typeface="Arial"/>
              </a:rPr>
              <a:t>A study on integrating network constraints into multi-agent pathfinding.</a:t>
            </a:r>
            <a:endParaRPr sz="1400" b="0" dirty="0">
              <a:solidFill>
                <a:srgbClr val="1D1D1A"/>
              </a:solidFill>
              <a:latin typeface="Arial"/>
              <a:ea typeface="Arial"/>
              <a:cs typeface="Arial"/>
              <a:sym typeface="Arial"/>
            </a:endParaRPr>
          </a:p>
          <a:p>
            <a:pPr marL="0" lvl="0" indent="0" algn="l" rtl="0">
              <a:spcBef>
                <a:spcPts val="600"/>
              </a:spcBef>
              <a:spcAft>
                <a:spcPts val="0"/>
              </a:spcAft>
              <a:buNone/>
            </a:pPr>
            <a:r>
              <a:rPr lang="en" sz="1400" b="0" dirty="0">
                <a:solidFill>
                  <a:srgbClr val="1D1D1A"/>
                </a:solidFill>
                <a:latin typeface="Arial"/>
                <a:ea typeface="Arial"/>
                <a:cs typeface="Arial"/>
                <a:sym typeface="Arial"/>
              </a:rPr>
              <a:t>Author: Arman Dogru, Irem Bor-Yaliniz</a:t>
            </a:r>
            <a:endParaRPr sz="1400" b="0" dirty="0">
              <a:solidFill>
                <a:srgbClr val="1D1D1A"/>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4" name="Google Shape;64;p15"/>
          <p:cNvSpPr txBox="1"/>
          <p:nvPr/>
        </p:nvSpPr>
        <p:spPr>
          <a:xfrm>
            <a:off x="366396" y="1364275"/>
            <a:ext cx="5715000" cy="495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dirty="0">
                <a:solidFill>
                  <a:srgbClr val="1D1D1A"/>
                </a:solidFill>
                <a:latin typeface="Calibri"/>
                <a:ea typeface="Calibri"/>
                <a:cs typeface="Calibri"/>
                <a:sym typeface="Calibri"/>
              </a:rPr>
              <a:t>Problem: </a:t>
            </a:r>
            <a:r>
              <a:rPr lang="en" sz="1600" b="0" dirty="0">
                <a:solidFill>
                  <a:srgbClr val="1D1D1A"/>
                </a:solidFill>
                <a:latin typeface="Calibri"/>
                <a:ea typeface="Calibri"/>
                <a:cs typeface="Calibri"/>
                <a:sym typeface="Calibri"/>
              </a:rPr>
              <a:t>Traditional Multi-Agent Path Finding (MAPF) ignores network constraints, which can lead to communication blackouts in realistic scenarios. in </a:t>
            </a:r>
            <a:r>
              <a:rPr lang="en" sz="1600" dirty="0">
                <a:solidFill>
                  <a:srgbClr val="1D1D1A"/>
                </a:solidFill>
                <a:latin typeface="Calibri"/>
                <a:ea typeface="Calibri"/>
                <a:cs typeface="Calibri"/>
                <a:sym typeface="Calibri"/>
              </a:rPr>
              <a:t>our previous work we were able to prove that channel awareness can improve network quality without degrading solution quality for MAPF problems</a:t>
            </a:r>
            <a:endParaRPr sz="1600" b="0" dirty="0">
              <a:solidFill>
                <a:srgbClr val="1D1D1A"/>
              </a:solidFill>
              <a:latin typeface="Calibri"/>
              <a:ea typeface="Calibri"/>
              <a:cs typeface="Calibri"/>
              <a:sym typeface="Calibri"/>
            </a:endParaRPr>
          </a:p>
          <a:p>
            <a:pPr marL="0" lvl="0" indent="0" algn="l" rtl="0">
              <a:spcBef>
                <a:spcPts val="900"/>
              </a:spcBef>
              <a:spcAft>
                <a:spcPts val="0"/>
              </a:spcAft>
              <a:buNone/>
            </a:pPr>
            <a:r>
              <a:rPr lang="en" sz="1600" b="1" dirty="0">
                <a:solidFill>
                  <a:srgbClr val="1D1D1A"/>
                </a:solidFill>
                <a:latin typeface="Calibri"/>
                <a:ea typeface="Calibri"/>
                <a:cs typeface="Calibri"/>
                <a:sym typeface="Calibri"/>
              </a:rPr>
              <a:t>Research Questions:</a:t>
            </a:r>
            <a:endParaRPr sz="1600" b="0" dirty="0">
              <a:solidFill>
                <a:srgbClr val="1D1D1A"/>
              </a:solidFill>
              <a:latin typeface="Calibri"/>
              <a:ea typeface="Calibri"/>
              <a:cs typeface="Calibri"/>
              <a:sym typeface="Calibri"/>
            </a:endParaRPr>
          </a:p>
          <a:p>
            <a:pPr marL="457200" lvl="0" indent="-330200" algn="l" rtl="0">
              <a:spcBef>
                <a:spcPts val="900"/>
              </a:spcBef>
              <a:spcAft>
                <a:spcPts val="0"/>
              </a:spcAft>
              <a:buClr>
                <a:srgbClr val="1D1D1A"/>
              </a:buClr>
              <a:buSzPts val="1600"/>
              <a:buFont typeface="Calibri"/>
              <a:buChar char="●"/>
            </a:pPr>
            <a:r>
              <a:rPr lang="en" sz="1600" b="0" dirty="0">
                <a:solidFill>
                  <a:srgbClr val="1D1D1A"/>
                </a:solidFill>
                <a:latin typeface="Calibri"/>
                <a:ea typeface="Calibri"/>
                <a:cs typeface="Calibri"/>
                <a:sym typeface="Calibri"/>
              </a:rPr>
              <a:t>If all tasks are offloaded from agents, how would poor channel conditions impact inference?</a:t>
            </a:r>
            <a:endParaRPr sz="1600" b="0" dirty="0">
              <a:solidFill>
                <a:srgbClr val="1D1D1A"/>
              </a:solidFill>
              <a:latin typeface="Calibri"/>
              <a:ea typeface="Calibri"/>
              <a:cs typeface="Calibri"/>
              <a:sym typeface="Calibri"/>
            </a:endParaRPr>
          </a:p>
          <a:p>
            <a:pPr marL="457200" lvl="0" indent="-330200" algn="l" rtl="0">
              <a:spcBef>
                <a:spcPts val="600"/>
              </a:spcBef>
              <a:spcAft>
                <a:spcPts val="0"/>
              </a:spcAft>
              <a:buClr>
                <a:srgbClr val="1D1D1A"/>
              </a:buClr>
              <a:buSzPts val="1600"/>
              <a:buFont typeface="Calibri"/>
              <a:buChar char="●"/>
            </a:pPr>
            <a:r>
              <a:rPr lang="en" sz="1600" dirty="0">
                <a:solidFill>
                  <a:srgbClr val="1D1D1A"/>
                </a:solidFill>
                <a:latin typeface="Calibri"/>
                <a:ea typeface="Calibri"/>
                <a:cs typeface="Calibri"/>
                <a:sym typeface="Calibri"/>
              </a:rPr>
              <a:t>Post-deployment, how would poor channel condition, during online learning might impact agent </a:t>
            </a:r>
            <a:r>
              <a:rPr lang="en" sz="1600" dirty="0" err="1">
                <a:solidFill>
                  <a:srgbClr val="1D1D1A"/>
                </a:solidFill>
                <a:latin typeface="Calibri"/>
                <a:ea typeface="Calibri"/>
                <a:cs typeface="Calibri"/>
                <a:sym typeface="Calibri"/>
              </a:rPr>
              <a:t>performanc</a:t>
            </a:r>
            <a:r>
              <a:rPr lang="en" sz="1600" dirty="0">
                <a:solidFill>
                  <a:srgbClr val="1D1D1A"/>
                </a:solidFill>
                <a:latin typeface="Calibri"/>
                <a:ea typeface="Calibri"/>
                <a:cs typeface="Calibri"/>
                <a:sym typeface="Calibri"/>
              </a:rPr>
              <a:t>?</a:t>
            </a:r>
            <a:endParaRPr sz="1600" dirty="0">
              <a:solidFill>
                <a:srgbClr val="1D1D1A"/>
              </a:solidFill>
              <a:latin typeface="Calibri"/>
              <a:ea typeface="Calibri"/>
              <a:cs typeface="Calibri"/>
              <a:sym typeface="Calibri"/>
            </a:endParaRPr>
          </a:p>
          <a:p>
            <a:pPr marL="457200" lvl="0" indent="-330200" algn="l" rtl="0">
              <a:spcBef>
                <a:spcPts val="600"/>
              </a:spcBef>
              <a:spcAft>
                <a:spcPts val="0"/>
              </a:spcAft>
              <a:buClr>
                <a:srgbClr val="1D1D1A"/>
              </a:buClr>
              <a:buSzPts val="1600"/>
              <a:buFont typeface="Calibri"/>
              <a:buChar char="●"/>
            </a:pPr>
            <a:r>
              <a:rPr lang="en" sz="1600" dirty="0">
                <a:solidFill>
                  <a:srgbClr val="1D1D1A"/>
                </a:solidFill>
                <a:latin typeface="Calibri"/>
                <a:ea typeface="Calibri"/>
                <a:cs typeface="Calibri"/>
                <a:sym typeface="Calibri"/>
              </a:rPr>
              <a:t>How can we optimize the prioritization of agents to minim</a:t>
            </a:r>
            <a:r>
              <a:rPr lang="en-CA" sz="1600" dirty="0" err="1">
                <a:solidFill>
                  <a:srgbClr val="1D1D1A"/>
                </a:solidFill>
                <a:latin typeface="Calibri"/>
                <a:ea typeface="Calibri"/>
                <a:cs typeface="Calibri"/>
                <a:sym typeface="Calibri"/>
              </a:rPr>
              <a:t>i</a:t>
            </a:r>
            <a:r>
              <a:rPr lang="en" sz="1600" dirty="0">
                <a:solidFill>
                  <a:srgbClr val="1D1D1A"/>
                </a:solidFill>
                <a:latin typeface="Calibri"/>
                <a:ea typeface="Calibri"/>
                <a:cs typeface="Calibri"/>
                <a:sym typeface="Calibri"/>
              </a:rPr>
              <a:t>ze impact of uplink/downlink delay?</a:t>
            </a:r>
            <a:endParaRPr sz="1600" dirty="0">
              <a:solidFill>
                <a:srgbClr val="1D1D1A"/>
              </a:solidFill>
              <a:latin typeface="Calibri"/>
              <a:ea typeface="Calibri"/>
              <a:cs typeface="Calibri"/>
              <a:sym typeface="Calibri"/>
            </a:endParaRPr>
          </a:p>
          <a:p>
            <a:pPr>
              <a:spcBef>
                <a:spcPts val="600"/>
              </a:spcBef>
              <a:spcAft>
                <a:spcPts val="900"/>
              </a:spcAft>
            </a:pPr>
            <a:r>
              <a:rPr lang="en" sz="1600" b="1" dirty="0">
                <a:solidFill>
                  <a:srgbClr val="1D1D1A"/>
                </a:solidFill>
                <a:latin typeface="Calibri"/>
                <a:ea typeface="Calibri"/>
                <a:cs typeface="Calibri"/>
                <a:sym typeface="Calibri"/>
              </a:rPr>
              <a:t>Approach &amp; Solution: </a:t>
            </a:r>
            <a:r>
              <a:rPr lang="en" sz="1600" b="0" dirty="0">
                <a:solidFill>
                  <a:srgbClr val="1D1D1A"/>
                </a:solidFill>
                <a:latin typeface="Calibri"/>
                <a:ea typeface="Calibri"/>
                <a:cs typeface="Calibri"/>
                <a:sym typeface="Calibri"/>
              </a:rPr>
              <a:t>Utilizes Multi-Agent Reinforcement Learning (MARL) with Centralized Training Decentralized Execution (CTDE) to address scalability</a:t>
            </a:r>
            <a:r>
              <a:rPr lang="en" sz="1600" dirty="0">
                <a:solidFill>
                  <a:srgbClr val="1D1D1A"/>
                </a:solidFill>
                <a:latin typeface="Calibri"/>
                <a:ea typeface="Calibri"/>
                <a:cs typeface="Calibri"/>
                <a:sym typeface="Calibri"/>
              </a:rPr>
              <a:t> with </a:t>
            </a:r>
            <a:r>
              <a:rPr lang="en" sz="1600" b="0" dirty="0">
                <a:solidFill>
                  <a:srgbClr val="1D1D1A"/>
                </a:solidFill>
                <a:latin typeface="Calibri"/>
                <a:ea typeface="Calibri"/>
                <a:cs typeface="Calibri"/>
                <a:sym typeface="Calibri"/>
              </a:rPr>
              <a:t>Integrate</a:t>
            </a:r>
            <a:r>
              <a:rPr lang="en" sz="1600" dirty="0">
                <a:solidFill>
                  <a:srgbClr val="1D1D1A"/>
                </a:solidFill>
                <a:latin typeface="Calibri"/>
                <a:ea typeface="Calibri"/>
                <a:cs typeface="Calibri"/>
                <a:sym typeface="Calibri"/>
              </a:rPr>
              <a:t>d </a:t>
            </a:r>
            <a:r>
              <a:rPr lang="en" sz="1600" b="0" dirty="0">
                <a:solidFill>
                  <a:srgbClr val="1D1D1A"/>
                </a:solidFill>
                <a:latin typeface="Calibri"/>
                <a:ea typeface="Calibri"/>
                <a:cs typeface="Calibri"/>
                <a:sym typeface="Calibri"/>
              </a:rPr>
              <a:t>Network Digital Twin (D-Net) to simulat</a:t>
            </a:r>
            <a:r>
              <a:rPr lang="en" sz="1600" dirty="0">
                <a:solidFill>
                  <a:srgbClr val="1D1D1A"/>
                </a:solidFill>
                <a:latin typeface="Calibri"/>
                <a:ea typeface="Calibri"/>
                <a:cs typeface="Calibri"/>
                <a:sym typeface="Calibri"/>
              </a:rPr>
              <a:t>e Agent to UAV to LEO to </a:t>
            </a:r>
            <a:r>
              <a:rPr lang="en" sz="1600" dirty="0" err="1">
                <a:solidFill>
                  <a:srgbClr val="1D1D1A"/>
                </a:solidFill>
                <a:latin typeface="Calibri"/>
                <a:ea typeface="Calibri"/>
                <a:cs typeface="Calibri"/>
                <a:sym typeface="Calibri"/>
              </a:rPr>
              <a:t>gNb</a:t>
            </a:r>
            <a:r>
              <a:rPr lang="en" sz="1600" dirty="0">
                <a:solidFill>
                  <a:srgbClr val="1D1D1A"/>
                </a:solidFill>
                <a:latin typeface="Calibri"/>
                <a:ea typeface="Calibri"/>
                <a:cs typeface="Calibri"/>
                <a:sym typeface="Calibri"/>
              </a:rPr>
              <a:t> communication. Our experimental set up aims to analyze the impact of poor connectivity in a MAPF scenario with </a:t>
            </a:r>
            <a:r>
              <a:rPr lang="en-CA" sz="1600" dirty="0"/>
              <a:t>URLLC traffic,</a:t>
            </a:r>
            <a:endParaRPr sz="1600" b="0" dirty="0">
              <a:solidFill>
                <a:srgbClr val="1D1D1A"/>
              </a:solidFill>
              <a:latin typeface="Calibri"/>
              <a:ea typeface="Calibri"/>
              <a:cs typeface="Calibri"/>
              <a:sym typeface="Calibri"/>
            </a:endParaRPr>
          </a:p>
        </p:txBody>
      </p:sp>
      <p:sp>
        <p:nvSpPr>
          <p:cNvPr id="65" name="Google Shape;65;p15"/>
          <p:cNvSpPr/>
          <p:nvPr/>
        </p:nvSpPr>
        <p:spPr>
          <a:xfrm>
            <a:off x="557785" y="6530188"/>
            <a:ext cx="2001000" cy="276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66" name="Google Shape;66;p15" title="Digital Twin Factory with UAV Network.png"/>
          <p:cNvPicPr preferRelativeResize="0"/>
          <p:nvPr/>
        </p:nvPicPr>
        <p:blipFill>
          <a:blip r:embed="rId4">
            <a:alphaModFix/>
          </a:blip>
          <a:stretch>
            <a:fillRect/>
          </a:stretch>
        </p:blipFill>
        <p:spPr>
          <a:xfrm>
            <a:off x="6296549" y="1364275"/>
            <a:ext cx="5805803" cy="5046085"/>
          </a:xfrm>
          <a:prstGeom prst="rect">
            <a:avLst/>
          </a:prstGeom>
          <a:noFill/>
          <a:ln>
            <a:noFill/>
          </a:ln>
        </p:spPr>
      </p:pic>
      <p:sp>
        <p:nvSpPr>
          <p:cNvPr id="2" name="Google Shape;86;p17">
            <a:extLst>
              <a:ext uri="{FF2B5EF4-FFF2-40B4-BE49-F238E27FC236}">
                <a16:creationId xmlns:a16="http://schemas.microsoft.com/office/drawing/2014/main" id="{C2A07379-FAD4-03AF-1C88-88900BC5D083}"/>
              </a:ext>
            </a:extLst>
          </p:cNvPr>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dirty="0">
                <a:solidFill>
                  <a:srgbClr val="1D1D1A"/>
                </a:solidFill>
              </a:rPr>
              <a:t>Experimental Setup</a:t>
            </a:r>
            <a:endParaRPr sz="3200" b="0" dirty="0">
              <a:solidFill>
                <a:srgbClr val="1D1D1A"/>
              </a:solidFill>
              <a:latin typeface="Arial"/>
              <a:ea typeface="Arial"/>
              <a:cs typeface="Arial"/>
              <a:sym typeface="Arial"/>
            </a:endParaRPr>
          </a:p>
        </p:txBody>
      </p:sp>
      <p:sp>
        <p:nvSpPr>
          <p:cNvPr id="3" name="&quot;No&quot; Symbol 2">
            <a:extLst>
              <a:ext uri="{FF2B5EF4-FFF2-40B4-BE49-F238E27FC236}">
                <a16:creationId xmlns:a16="http://schemas.microsoft.com/office/drawing/2014/main" id="{459AC9FF-541C-C0D0-7DF7-0665545DEED3}"/>
              </a:ext>
            </a:extLst>
          </p:cNvPr>
          <p:cNvSpPr/>
          <p:nvPr/>
        </p:nvSpPr>
        <p:spPr>
          <a:xfrm>
            <a:off x="7207623" y="2245057"/>
            <a:ext cx="4491318" cy="3191435"/>
          </a:xfrm>
          <a:prstGeom prst="noSmoking">
            <a:avLst/>
          </a:prstGeom>
          <a:solidFill>
            <a:srgbClr val="FF0000">
              <a:alpha val="3882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p:cNvGrpSpPr/>
        <p:nvPr/>
      </p:nvGrpSpPr>
      <p:grpSpPr>
        <a:xfrm>
          <a:off x="0" y="0"/>
          <a:ext cx="0" cy="0"/>
          <a:chOff x="0" y="0"/>
          <a:chExt cx="0" cy="0"/>
        </a:xfrm>
      </p:grpSpPr>
      <p:sp>
        <p:nvSpPr>
          <p:cNvPr id="74" name="Google Shape;74;p16"/>
          <p:cNvSpPr txBox="1"/>
          <p:nvPr/>
        </p:nvSpPr>
        <p:spPr>
          <a:xfrm>
            <a:off x="723900" y="2006034"/>
            <a:ext cx="4762500" cy="1663349"/>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b="0" dirty="0">
                <a:solidFill>
                  <a:srgbClr val="1D1D1A"/>
                </a:solidFill>
                <a:latin typeface="Calibri"/>
                <a:ea typeface="Calibri"/>
                <a:cs typeface="Calibri"/>
                <a:sym typeface="Calibri"/>
              </a:rPr>
              <a:t>During Inference, agents are responsible of sharing sensor data to synchronize their digital twin</a:t>
            </a:r>
            <a:br>
              <a:rPr lang="en" sz="1800" b="0" dirty="0">
                <a:solidFill>
                  <a:srgbClr val="1D1D1A"/>
                </a:solidFill>
                <a:latin typeface="Calibri"/>
                <a:ea typeface="Calibri"/>
                <a:cs typeface="Calibri"/>
                <a:sym typeface="Calibri"/>
              </a:rPr>
            </a:br>
            <a:br>
              <a:rPr lang="en" sz="1800" b="0" dirty="0">
                <a:solidFill>
                  <a:srgbClr val="1D1D1A"/>
                </a:solidFill>
                <a:latin typeface="Calibri"/>
                <a:ea typeface="Calibri"/>
                <a:cs typeface="Calibri"/>
                <a:sym typeface="Calibri"/>
              </a:rPr>
            </a:br>
            <a:r>
              <a:rPr lang="en" sz="1800" b="0" dirty="0">
                <a:solidFill>
                  <a:srgbClr val="1D1D1A"/>
                </a:solidFill>
                <a:latin typeface="Calibri"/>
                <a:ea typeface="Calibri"/>
                <a:cs typeface="Calibri"/>
                <a:sym typeface="Calibri"/>
              </a:rPr>
              <a:t>They also need to rec</a:t>
            </a:r>
            <a:r>
              <a:rPr lang="en-CA" sz="1800" b="0" dirty="0" err="1">
                <a:solidFill>
                  <a:srgbClr val="1D1D1A"/>
                </a:solidFill>
                <a:latin typeface="Calibri"/>
                <a:ea typeface="Calibri"/>
                <a:cs typeface="Calibri"/>
                <a:sym typeface="Calibri"/>
              </a:rPr>
              <a:t>ei</a:t>
            </a:r>
            <a:r>
              <a:rPr lang="en" sz="1800" b="0" dirty="0" err="1">
                <a:solidFill>
                  <a:srgbClr val="1D1D1A"/>
                </a:solidFill>
                <a:latin typeface="Calibri"/>
                <a:ea typeface="Calibri"/>
                <a:cs typeface="Calibri"/>
                <a:sym typeface="Calibri"/>
              </a:rPr>
              <a:t>ve</a:t>
            </a:r>
            <a:r>
              <a:rPr lang="en" sz="1800" b="0" dirty="0">
                <a:solidFill>
                  <a:srgbClr val="1D1D1A"/>
                </a:solidFill>
                <a:latin typeface="Calibri"/>
                <a:ea typeface="Calibri"/>
                <a:cs typeface="Calibri"/>
                <a:sym typeface="Calibri"/>
              </a:rPr>
              <a:t> commands, priorities, other agent locations and mission status updates</a:t>
            </a:r>
          </a:p>
        </p:txBody>
      </p:sp>
      <p:sp>
        <p:nvSpPr>
          <p:cNvPr id="75" name="Google Shape;75;p16"/>
          <p:cNvSpPr txBox="1"/>
          <p:nvPr/>
        </p:nvSpPr>
        <p:spPr>
          <a:xfrm>
            <a:off x="723900" y="3783863"/>
            <a:ext cx="4762500" cy="115569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dirty="0">
                <a:solidFill>
                  <a:srgbClr val="1D1D1A"/>
                </a:solidFill>
                <a:latin typeface="Calibri"/>
                <a:ea typeface="Calibri"/>
                <a:cs typeface="Calibri"/>
                <a:sym typeface="Calibri"/>
              </a:rPr>
              <a:t>In the case of a </a:t>
            </a:r>
            <a:r>
              <a:rPr lang="en" sz="1800" dirty="0" err="1">
                <a:solidFill>
                  <a:srgbClr val="1D1D1A"/>
                </a:solidFill>
                <a:latin typeface="Calibri"/>
                <a:ea typeface="Calibri"/>
                <a:cs typeface="Calibri"/>
                <a:sym typeface="Calibri"/>
              </a:rPr>
              <a:t>contin</a:t>
            </a:r>
            <a:r>
              <a:rPr lang="en-CA" sz="1800" dirty="0">
                <a:solidFill>
                  <a:srgbClr val="1D1D1A"/>
                </a:solidFill>
                <a:latin typeface="Calibri"/>
                <a:ea typeface="Calibri"/>
                <a:cs typeface="Calibri"/>
                <a:sym typeface="Calibri"/>
              </a:rPr>
              <a:t>u</a:t>
            </a:r>
            <a:r>
              <a:rPr lang="en" sz="1800" dirty="0" err="1">
                <a:solidFill>
                  <a:srgbClr val="1D1D1A"/>
                </a:solidFill>
                <a:latin typeface="Calibri"/>
                <a:ea typeface="Calibri"/>
                <a:cs typeface="Calibri"/>
                <a:sym typeface="Calibri"/>
              </a:rPr>
              <a:t>ous</a:t>
            </a:r>
            <a:r>
              <a:rPr lang="en" sz="1800" dirty="0">
                <a:solidFill>
                  <a:srgbClr val="1D1D1A"/>
                </a:solidFill>
                <a:latin typeface="Calibri"/>
                <a:ea typeface="Calibri"/>
                <a:cs typeface="Calibri"/>
                <a:sym typeface="Calibri"/>
              </a:rPr>
              <a:t> learning, on top of the existing requirements, agents need to upload their experiences to the cloud model and download model weight updates regularly</a:t>
            </a:r>
            <a:endParaRPr sz="1800" b="0" dirty="0">
              <a:solidFill>
                <a:srgbClr val="1D1D1A"/>
              </a:solidFill>
              <a:latin typeface="Calibri"/>
              <a:ea typeface="Calibri"/>
              <a:cs typeface="Calibri"/>
              <a:sym typeface="Calibri"/>
            </a:endParaRPr>
          </a:p>
        </p:txBody>
      </p:sp>
      <p:sp>
        <p:nvSpPr>
          <p:cNvPr id="2" name="Google Shape;86;p17">
            <a:extLst>
              <a:ext uri="{FF2B5EF4-FFF2-40B4-BE49-F238E27FC236}">
                <a16:creationId xmlns:a16="http://schemas.microsoft.com/office/drawing/2014/main" id="{BC2916FE-2405-35DD-FABE-A50BC8DE6E89}"/>
              </a:ext>
            </a:extLst>
          </p:cNvPr>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dirty="0">
                <a:solidFill>
                  <a:srgbClr val="1D1D1A"/>
                </a:solidFill>
              </a:rPr>
              <a:t>Inference vs Continuous Learning</a:t>
            </a:r>
            <a:endParaRPr sz="3200" b="0" dirty="0">
              <a:solidFill>
                <a:srgbClr val="1D1D1A"/>
              </a:solidFill>
              <a:latin typeface="Arial"/>
              <a:ea typeface="Arial"/>
              <a:cs typeface="Arial"/>
              <a:sym typeface="Arial"/>
            </a:endParaRPr>
          </a:p>
        </p:txBody>
      </p:sp>
      <p:pic>
        <p:nvPicPr>
          <p:cNvPr id="10" name="Picture 9">
            <a:extLst>
              <a:ext uri="{FF2B5EF4-FFF2-40B4-BE49-F238E27FC236}">
                <a16:creationId xmlns:a16="http://schemas.microsoft.com/office/drawing/2014/main" id="{F669A1C2-8AE6-B008-A778-10BDC8A82C44}"/>
              </a:ext>
            </a:extLst>
          </p:cNvPr>
          <p:cNvPicPr>
            <a:picLocks noChangeAspect="1"/>
          </p:cNvPicPr>
          <p:nvPr/>
        </p:nvPicPr>
        <p:blipFill>
          <a:blip r:embed="rId4"/>
          <a:stretch>
            <a:fillRect/>
          </a:stretch>
        </p:blipFill>
        <p:spPr>
          <a:xfrm>
            <a:off x="5830274" y="1958497"/>
            <a:ext cx="6086387" cy="34217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0FA34586-9797-73FC-CDFE-0E22BBCD613F}"/>
            </a:ext>
          </a:extLst>
        </p:cNvPr>
        <p:cNvGrpSpPr/>
        <p:nvPr/>
      </p:nvGrpSpPr>
      <p:grpSpPr>
        <a:xfrm>
          <a:off x="0" y="0"/>
          <a:ext cx="0" cy="0"/>
          <a:chOff x="0" y="0"/>
          <a:chExt cx="0" cy="0"/>
        </a:xfrm>
      </p:grpSpPr>
      <p:sp>
        <p:nvSpPr>
          <p:cNvPr id="74" name="Google Shape;74;p16">
            <a:extLst>
              <a:ext uri="{FF2B5EF4-FFF2-40B4-BE49-F238E27FC236}">
                <a16:creationId xmlns:a16="http://schemas.microsoft.com/office/drawing/2014/main" id="{7BE48DDF-37BC-8056-7A26-8537CB128254}"/>
              </a:ext>
            </a:extLst>
          </p:cNvPr>
          <p:cNvSpPr txBox="1"/>
          <p:nvPr/>
        </p:nvSpPr>
        <p:spPr>
          <a:xfrm>
            <a:off x="727075" y="1575974"/>
            <a:ext cx="4762500" cy="37060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CA" sz="1800" b="0" dirty="0">
                <a:solidFill>
                  <a:srgbClr val="1D1D1A"/>
                </a:solidFill>
                <a:latin typeface="Calibri"/>
                <a:ea typeface="Calibri"/>
                <a:cs typeface="Calibri"/>
                <a:sym typeface="Calibri"/>
              </a:rPr>
              <a:t>Experimental runs contain 4 stages</a:t>
            </a:r>
            <a:r>
              <a:rPr lang="en" sz="1800" dirty="0">
                <a:solidFill>
                  <a:srgbClr val="1D1D1A"/>
                </a:solidFill>
                <a:latin typeface="Calibri"/>
                <a:ea typeface="Calibri"/>
                <a:cs typeface="Calibri"/>
                <a:sym typeface="Calibri"/>
              </a:rPr>
              <a:t>:</a:t>
            </a:r>
          </a:p>
          <a:p>
            <a:pPr marL="0" lvl="0" indent="0" algn="l" rtl="0">
              <a:spcBef>
                <a:spcPts val="0"/>
              </a:spcBef>
              <a:spcAft>
                <a:spcPts val="0"/>
              </a:spcAft>
              <a:buNone/>
            </a:pPr>
            <a:endParaRPr lang="en" sz="1800" b="0" dirty="0">
              <a:solidFill>
                <a:srgbClr val="1D1D1A"/>
              </a:solidFill>
              <a:latin typeface="Calibri"/>
              <a:ea typeface="Calibri"/>
              <a:cs typeface="Calibri"/>
              <a:sym typeface="Calibri"/>
            </a:endParaRPr>
          </a:p>
          <a:p>
            <a:pPr marL="0" lvl="0" indent="0" algn="l" rtl="0">
              <a:spcBef>
                <a:spcPts val="0"/>
              </a:spcBef>
              <a:spcAft>
                <a:spcPts val="0"/>
              </a:spcAft>
              <a:buNone/>
            </a:pPr>
            <a:r>
              <a:rPr lang="en" sz="1800" dirty="0">
                <a:solidFill>
                  <a:srgbClr val="1D1D1A"/>
                </a:solidFill>
                <a:latin typeface="Calibri"/>
                <a:ea typeface="Calibri"/>
                <a:cs typeface="Calibri"/>
                <a:sym typeface="Calibri"/>
              </a:rPr>
              <a:t>Stage 1: 32x32x10 random with 4 agents</a:t>
            </a:r>
          </a:p>
          <a:p>
            <a:pPr marL="0" lvl="0" indent="0" algn="l" rtl="0">
              <a:spcBef>
                <a:spcPts val="0"/>
              </a:spcBef>
              <a:spcAft>
                <a:spcPts val="0"/>
              </a:spcAft>
              <a:buNone/>
            </a:pPr>
            <a:r>
              <a:rPr lang="en" sz="1800" b="0" dirty="0">
                <a:solidFill>
                  <a:srgbClr val="1D1D1A"/>
                </a:solidFill>
                <a:latin typeface="Calibri"/>
                <a:ea typeface="Calibri"/>
                <a:cs typeface="Calibri"/>
                <a:sym typeface="Calibri"/>
              </a:rPr>
              <a:t>Stage 2: 32x32x10 random with 8 agents</a:t>
            </a:r>
          </a:p>
          <a:p>
            <a:pPr marL="0" lvl="0" indent="0" algn="l" rtl="0">
              <a:spcBef>
                <a:spcPts val="0"/>
              </a:spcBef>
              <a:spcAft>
                <a:spcPts val="0"/>
              </a:spcAft>
              <a:buNone/>
            </a:pPr>
            <a:r>
              <a:rPr lang="en" sz="1800" dirty="0">
                <a:solidFill>
                  <a:srgbClr val="1D1D1A"/>
                </a:solidFill>
                <a:latin typeface="Calibri"/>
                <a:ea typeface="Calibri"/>
                <a:cs typeface="Calibri"/>
                <a:sym typeface="Calibri"/>
              </a:rPr>
              <a:t>Stage 3: 32x32x20 random with 8 agents</a:t>
            </a:r>
          </a:p>
          <a:p>
            <a:pPr marL="0" lvl="0" indent="0" algn="l" rtl="0">
              <a:spcBef>
                <a:spcPts val="0"/>
              </a:spcBef>
              <a:spcAft>
                <a:spcPts val="0"/>
              </a:spcAft>
              <a:buNone/>
            </a:pPr>
            <a:r>
              <a:rPr lang="en" sz="1800" b="0" dirty="0">
                <a:solidFill>
                  <a:srgbClr val="1D1D1A"/>
                </a:solidFill>
                <a:latin typeface="Calibri"/>
                <a:ea typeface="Calibri"/>
                <a:cs typeface="Calibri"/>
                <a:sym typeface="Calibri"/>
              </a:rPr>
              <a:t>Stage 4: 32x32x20 random with 10 agents</a:t>
            </a:r>
          </a:p>
          <a:p>
            <a:pPr marL="0" lvl="0" indent="0" algn="l" rtl="0">
              <a:spcBef>
                <a:spcPts val="0"/>
              </a:spcBef>
              <a:spcAft>
                <a:spcPts val="0"/>
              </a:spcAft>
              <a:buNone/>
            </a:pPr>
            <a:endParaRPr lang="en" sz="1800" dirty="0">
              <a:solidFill>
                <a:srgbClr val="1D1D1A"/>
              </a:solidFill>
              <a:latin typeface="Calibri"/>
              <a:ea typeface="Calibri"/>
              <a:cs typeface="Calibri"/>
              <a:sym typeface="Calibri"/>
            </a:endParaRPr>
          </a:p>
          <a:p>
            <a:r>
              <a:rPr lang="en-CA" sz="1800" dirty="0">
                <a:solidFill>
                  <a:srgbClr val="1D1D1A"/>
                </a:solidFill>
                <a:latin typeface="Calibri"/>
                <a:ea typeface="Calibri"/>
                <a:cs typeface="Calibri"/>
                <a:sym typeface="Calibri"/>
              </a:rPr>
              <a:t>Using a model that was pre-trained without any communication delay, agents were deployed in these environments</a:t>
            </a:r>
          </a:p>
          <a:p>
            <a:endParaRPr lang="en-CA" sz="1800" dirty="0">
              <a:solidFill>
                <a:srgbClr val="1D1D1A"/>
              </a:solidFill>
              <a:latin typeface="Calibri"/>
              <a:ea typeface="Calibri"/>
              <a:cs typeface="Calibri"/>
              <a:sym typeface="Calibri"/>
            </a:endParaRPr>
          </a:p>
          <a:p>
            <a:r>
              <a:rPr lang="en" sz="1800" dirty="0">
                <a:solidFill>
                  <a:srgbClr val="1D1D1A"/>
                </a:solidFill>
                <a:latin typeface="Calibri"/>
                <a:ea typeface="Calibri"/>
                <a:cs typeface="Calibri"/>
                <a:sym typeface="Calibri"/>
              </a:rPr>
              <a:t>Except for the Inference runs for validation, the environment was regenerated every episode.</a:t>
            </a:r>
          </a:p>
        </p:txBody>
      </p:sp>
      <p:pic>
        <p:nvPicPr>
          <p:cNvPr id="2" name="Picture 1">
            <a:extLst>
              <a:ext uri="{FF2B5EF4-FFF2-40B4-BE49-F238E27FC236}">
                <a16:creationId xmlns:a16="http://schemas.microsoft.com/office/drawing/2014/main" id="{80F1CC04-0B84-B0B5-1981-8EC9A13DF14B}"/>
              </a:ext>
            </a:extLst>
          </p:cNvPr>
          <p:cNvPicPr>
            <a:picLocks noChangeAspect="1"/>
          </p:cNvPicPr>
          <p:nvPr/>
        </p:nvPicPr>
        <p:blipFill>
          <a:blip r:embed="rId3"/>
          <a:stretch>
            <a:fillRect/>
          </a:stretch>
        </p:blipFill>
        <p:spPr>
          <a:xfrm>
            <a:off x="5582196" y="177454"/>
            <a:ext cx="2891244" cy="2891244"/>
          </a:xfrm>
          <a:prstGeom prst="rect">
            <a:avLst/>
          </a:prstGeom>
        </p:spPr>
      </p:pic>
      <p:pic>
        <p:nvPicPr>
          <p:cNvPr id="3" name="Picture 2">
            <a:extLst>
              <a:ext uri="{FF2B5EF4-FFF2-40B4-BE49-F238E27FC236}">
                <a16:creationId xmlns:a16="http://schemas.microsoft.com/office/drawing/2014/main" id="{3B5258DF-65AE-03E3-2383-4C3C3482800F}"/>
              </a:ext>
            </a:extLst>
          </p:cNvPr>
          <p:cNvPicPr>
            <a:picLocks noChangeAspect="1"/>
          </p:cNvPicPr>
          <p:nvPr/>
        </p:nvPicPr>
        <p:blipFill>
          <a:blip r:embed="rId4"/>
          <a:stretch>
            <a:fillRect/>
          </a:stretch>
        </p:blipFill>
        <p:spPr>
          <a:xfrm>
            <a:off x="8573681" y="3191694"/>
            <a:ext cx="2891244" cy="2891244"/>
          </a:xfrm>
          <a:prstGeom prst="rect">
            <a:avLst/>
          </a:prstGeom>
        </p:spPr>
      </p:pic>
      <p:sp>
        <p:nvSpPr>
          <p:cNvPr id="5" name="Google Shape;86;p17">
            <a:extLst>
              <a:ext uri="{FF2B5EF4-FFF2-40B4-BE49-F238E27FC236}">
                <a16:creationId xmlns:a16="http://schemas.microsoft.com/office/drawing/2014/main" id="{234A3E6E-3736-A173-0612-7F3C2C74DBCC}"/>
              </a:ext>
            </a:extLst>
          </p:cNvPr>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dirty="0">
                <a:solidFill>
                  <a:srgbClr val="1D1D1A"/>
                </a:solidFill>
              </a:rPr>
              <a:t>Stages</a:t>
            </a:r>
            <a:endParaRPr sz="3200" b="0" dirty="0">
              <a:solidFill>
                <a:srgbClr val="1D1D1A"/>
              </a:solidFill>
              <a:latin typeface="Arial"/>
              <a:ea typeface="Arial"/>
              <a:cs typeface="Arial"/>
              <a:sym typeface="Arial"/>
            </a:endParaRPr>
          </a:p>
        </p:txBody>
      </p:sp>
    </p:spTree>
    <p:extLst>
      <p:ext uri="{BB962C8B-B14F-4D97-AF65-F5344CB8AC3E}">
        <p14:creationId xmlns:p14="http://schemas.microsoft.com/office/powerpoint/2010/main" val="101106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F72A2DD0-DDF3-9FF1-EE72-7BA92F5BFF97}"/>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B594A8D3-0BE0-9A48-949C-885BADE32A9C}"/>
              </a:ext>
            </a:extLst>
          </p:cNvPr>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dirty="0">
                <a:solidFill>
                  <a:srgbClr val="1D1D1A"/>
                </a:solidFill>
              </a:rPr>
              <a:t>Continuous Learning</a:t>
            </a:r>
            <a:endParaRPr sz="3200" b="0" dirty="0">
              <a:solidFill>
                <a:srgbClr val="1D1D1A"/>
              </a:solidFill>
              <a:latin typeface="Arial"/>
              <a:ea typeface="Arial"/>
              <a:cs typeface="Arial"/>
              <a:sym typeface="Arial"/>
            </a:endParaRPr>
          </a:p>
        </p:txBody>
      </p:sp>
      <p:sp>
        <p:nvSpPr>
          <p:cNvPr id="87" name="Google Shape;87;p17">
            <a:extLst>
              <a:ext uri="{FF2B5EF4-FFF2-40B4-BE49-F238E27FC236}">
                <a16:creationId xmlns:a16="http://schemas.microsoft.com/office/drawing/2014/main" id="{B10DAE0A-564F-5C47-EF2E-17B14BF71D66}"/>
              </a:ext>
            </a:extLst>
          </p:cNvPr>
          <p:cNvSpPr txBox="1"/>
          <p:nvPr/>
        </p:nvSpPr>
        <p:spPr>
          <a:xfrm>
            <a:off x="723900" y="1333500"/>
            <a:ext cx="10734600" cy="476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CA" sz="1600" dirty="0">
                <a:solidFill>
                  <a:srgbClr val="1D1D1A"/>
                </a:solidFill>
                <a:latin typeface="Calibri"/>
                <a:ea typeface="Calibri"/>
                <a:cs typeface="Calibri"/>
                <a:sym typeface="Calibri"/>
              </a:rPr>
              <a:t>Agents performances across the stages were tracked under the assumptions of delays during uplink, downlink and both. Agents were allowed to progress in their curriculum as they were able to perform above 90% success rate during validation runs. As can be seen below, the delay in model weight updates and experience upload is stunting the </a:t>
            </a:r>
            <a:r>
              <a:rPr lang="en-CA" sz="1600" dirty="0" err="1">
                <a:solidFill>
                  <a:srgbClr val="1D1D1A"/>
                </a:solidFill>
                <a:latin typeface="Calibri"/>
                <a:ea typeface="Calibri"/>
                <a:cs typeface="Calibri"/>
                <a:sym typeface="Calibri"/>
              </a:rPr>
              <a:t>progession</a:t>
            </a:r>
            <a:r>
              <a:rPr lang="en-CA" sz="1600" dirty="0">
                <a:solidFill>
                  <a:srgbClr val="1D1D1A"/>
                </a:solidFill>
                <a:latin typeface="Calibri"/>
                <a:ea typeface="Calibri"/>
                <a:cs typeface="Calibri"/>
                <a:sym typeface="Calibri"/>
              </a:rPr>
              <a:t> of the model.</a:t>
            </a:r>
          </a:p>
          <a:p>
            <a:pPr marL="0" lvl="0" indent="0" algn="l" rtl="0">
              <a:spcBef>
                <a:spcPts val="0"/>
              </a:spcBef>
              <a:spcAft>
                <a:spcPts val="0"/>
              </a:spcAft>
              <a:buNone/>
            </a:pPr>
            <a:endParaRPr lang="en-CA" sz="1600" dirty="0">
              <a:solidFill>
                <a:srgbClr val="1D1D1A"/>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9FA81E78-32A4-063F-802F-02FAADABBC77}"/>
              </a:ext>
            </a:extLst>
          </p:cNvPr>
          <p:cNvPicPr>
            <a:picLocks noChangeAspect="1"/>
          </p:cNvPicPr>
          <p:nvPr/>
        </p:nvPicPr>
        <p:blipFill>
          <a:blip r:embed="rId3"/>
          <a:srcRect l="3735" t="9483"/>
          <a:stretch>
            <a:fillRect/>
          </a:stretch>
        </p:blipFill>
        <p:spPr>
          <a:xfrm>
            <a:off x="1931735" y="2196353"/>
            <a:ext cx="8318929" cy="4204447"/>
          </a:xfrm>
          <a:prstGeom prst="rect">
            <a:avLst/>
          </a:prstGeom>
        </p:spPr>
      </p:pic>
    </p:spTree>
    <p:extLst>
      <p:ext uri="{BB962C8B-B14F-4D97-AF65-F5344CB8AC3E}">
        <p14:creationId xmlns:p14="http://schemas.microsoft.com/office/powerpoint/2010/main" val="2571656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7"/>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dirty="0">
                <a:solidFill>
                  <a:srgbClr val="1D1D1A"/>
                </a:solidFill>
              </a:rPr>
              <a:t>Inference Experiments</a:t>
            </a:r>
            <a:endParaRPr sz="3200" b="0" dirty="0">
              <a:solidFill>
                <a:srgbClr val="1D1D1A"/>
              </a:solidFill>
              <a:latin typeface="Arial"/>
              <a:ea typeface="Arial"/>
              <a:cs typeface="Arial"/>
              <a:sym typeface="Arial"/>
            </a:endParaRPr>
          </a:p>
        </p:txBody>
      </p:sp>
      <p:sp>
        <p:nvSpPr>
          <p:cNvPr id="87" name="Google Shape;87;p17"/>
          <p:cNvSpPr txBox="1"/>
          <p:nvPr/>
        </p:nvSpPr>
        <p:spPr>
          <a:xfrm>
            <a:off x="723900" y="1333500"/>
            <a:ext cx="10734600" cy="476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CA" sz="1600" dirty="0">
                <a:solidFill>
                  <a:srgbClr val="1D1D1A"/>
                </a:solidFill>
                <a:latin typeface="Calibri"/>
                <a:ea typeface="Calibri"/>
                <a:cs typeface="Calibri"/>
                <a:sym typeface="Calibri"/>
              </a:rPr>
              <a:t>Each task delays impact on the inference performance is evaluated on series of unseen stages. (across the experiments, same seed for randomizing the task delaying occurrences were used, 5 steps delays were used)</a:t>
            </a:r>
          </a:p>
          <a:p>
            <a:pPr marL="0" lvl="0" indent="0" algn="l" rtl="0">
              <a:spcBef>
                <a:spcPts val="0"/>
              </a:spcBef>
              <a:spcAft>
                <a:spcPts val="0"/>
              </a:spcAft>
              <a:buNone/>
            </a:pPr>
            <a:endParaRPr lang="en-CA" sz="1600" dirty="0">
              <a:solidFill>
                <a:srgbClr val="1D1D1A"/>
              </a:solidFill>
              <a:latin typeface="Calibri"/>
              <a:ea typeface="Calibri"/>
              <a:cs typeface="Calibri"/>
              <a:sym typeface="Calibri"/>
            </a:endParaRPr>
          </a:p>
          <a:p>
            <a:pPr marL="0" lvl="0" indent="0" algn="l" rtl="0">
              <a:spcBef>
                <a:spcPts val="0"/>
              </a:spcBef>
              <a:spcAft>
                <a:spcPts val="0"/>
              </a:spcAft>
              <a:buNone/>
            </a:pPr>
            <a:endParaRPr sz="1600" dirty="0">
              <a:solidFill>
                <a:srgbClr val="1D1D1A"/>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C0ACEA25-3BD6-3831-AAA3-78EE60548F05}"/>
              </a:ext>
            </a:extLst>
          </p:cNvPr>
          <p:cNvPicPr>
            <a:picLocks noChangeAspect="1"/>
          </p:cNvPicPr>
          <p:nvPr/>
        </p:nvPicPr>
        <p:blipFill>
          <a:blip r:embed="rId4"/>
          <a:srcRect/>
          <a:stretch/>
        </p:blipFill>
        <p:spPr>
          <a:xfrm>
            <a:off x="628333" y="2199769"/>
            <a:ext cx="10925734" cy="42752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4" name="Google Shape;124;p19"/>
          <p:cNvSpPr txBox="1"/>
          <p:nvPr/>
        </p:nvSpPr>
        <p:spPr>
          <a:xfrm>
            <a:off x="552450" y="1000125"/>
            <a:ext cx="11087100" cy="1905000"/>
          </a:xfrm>
          <a:prstGeom prst="rect">
            <a:avLst/>
          </a:prstGeom>
          <a:noFill/>
          <a:ln>
            <a:noFill/>
          </a:ln>
        </p:spPr>
        <p:txBody>
          <a:bodyPr spcFirstLastPara="1" wrap="square" lIns="0" tIns="0" rIns="0" bIns="0" anchor="t" anchorCtr="0">
            <a:noAutofit/>
          </a:bodyPr>
          <a:lstStyle/>
          <a:p>
            <a:pPr marL="457200" lvl="0" indent="-323850" algn="l" rtl="0">
              <a:spcBef>
                <a:spcPts val="0"/>
              </a:spcBef>
              <a:spcAft>
                <a:spcPts val="450"/>
              </a:spcAft>
              <a:buClr>
                <a:srgbClr val="1D1D1A"/>
              </a:buClr>
              <a:buSzPts val="1500"/>
              <a:buFont typeface="Calibri"/>
              <a:buChar char="●"/>
            </a:pPr>
            <a:endParaRPr sz="1500" b="0" dirty="0">
              <a:solidFill>
                <a:srgbClr val="1D1D1A"/>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D17F768-DF76-A5ED-C894-8F5D651BA4C5}"/>
              </a:ext>
            </a:extLst>
          </p:cNvPr>
          <p:cNvPicPr>
            <a:picLocks noChangeAspect="1"/>
          </p:cNvPicPr>
          <p:nvPr/>
        </p:nvPicPr>
        <p:blipFill>
          <a:blip r:embed="rId4"/>
          <a:srcRect/>
          <a:stretch/>
        </p:blipFill>
        <p:spPr>
          <a:xfrm>
            <a:off x="628333" y="2199768"/>
            <a:ext cx="10925734" cy="4275287"/>
          </a:xfrm>
          <a:prstGeom prst="rect">
            <a:avLst/>
          </a:prstGeom>
        </p:spPr>
      </p:pic>
      <p:sp>
        <p:nvSpPr>
          <p:cNvPr id="4" name="Google Shape;86;p17">
            <a:extLst>
              <a:ext uri="{FF2B5EF4-FFF2-40B4-BE49-F238E27FC236}">
                <a16:creationId xmlns:a16="http://schemas.microsoft.com/office/drawing/2014/main" id="{E14E2D9C-B6FC-9E41-E560-588799E8BF53}"/>
              </a:ext>
            </a:extLst>
          </p:cNvPr>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dirty="0">
                <a:solidFill>
                  <a:srgbClr val="1D1D1A"/>
                </a:solidFill>
              </a:rPr>
              <a:t>Delay Duration Impact</a:t>
            </a:r>
            <a:endParaRPr sz="3200" b="0" dirty="0">
              <a:solidFill>
                <a:srgbClr val="1D1D1A"/>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p18"/>
          <p:cNvSpPr txBox="1"/>
          <p:nvPr/>
        </p:nvSpPr>
        <p:spPr>
          <a:xfrm>
            <a:off x="723900" y="457200"/>
            <a:ext cx="107346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200" b="0" dirty="0">
                <a:solidFill>
                  <a:srgbClr val="1D1D1A"/>
                </a:solidFill>
                <a:latin typeface="Arial"/>
                <a:ea typeface="Arial"/>
                <a:cs typeface="Arial"/>
                <a:sym typeface="Arial"/>
              </a:rPr>
              <a:t>Real LEO Data</a:t>
            </a:r>
            <a:endParaRPr sz="3200" b="0" dirty="0">
              <a:solidFill>
                <a:srgbClr val="1D1D1A"/>
              </a:solidFill>
              <a:latin typeface="Arial"/>
              <a:ea typeface="Arial"/>
              <a:cs typeface="Arial"/>
              <a:sym typeface="Arial"/>
            </a:endParaRPr>
          </a:p>
        </p:txBody>
      </p:sp>
      <p:sp>
        <p:nvSpPr>
          <p:cNvPr id="118" name="Google Shape;118;p18"/>
          <p:cNvSpPr txBox="1"/>
          <p:nvPr/>
        </p:nvSpPr>
        <p:spPr>
          <a:xfrm>
            <a:off x="723900" y="1333500"/>
            <a:ext cx="7140900" cy="1772100"/>
          </a:xfrm>
          <a:prstGeom prst="rect">
            <a:avLst/>
          </a:prstGeom>
          <a:noFill/>
          <a:ln>
            <a:noFill/>
          </a:ln>
        </p:spPr>
        <p:txBody>
          <a:bodyPr spcFirstLastPara="1" wrap="square" lIns="0" tIns="0" rIns="0" bIns="0" anchor="t" anchorCtr="0">
            <a:noAutofit/>
          </a:bodyPr>
          <a:lstStyle/>
          <a:p>
            <a:r>
              <a:rPr lang="en-CA" sz="1600" dirty="0">
                <a:solidFill>
                  <a:srgbClr val="1D1D1A"/>
                </a:solidFill>
                <a:latin typeface="Calibri"/>
                <a:ea typeface="Calibri"/>
                <a:cs typeface="Calibri"/>
                <a:sym typeface="Calibri"/>
              </a:rPr>
              <a:t>We will use </a:t>
            </a:r>
            <a:r>
              <a:rPr lang="en-CA" sz="1600" dirty="0" err="1">
                <a:solidFill>
                  <a:srgbClr val="1D1D1A"/>
                </a:solidFill>
                <a:latin typeface="Calibri"/>
                <a:ea typeface="Calibri"/>
                <a:cs typeface="Calibri"/>
                <a:sym typeface="Calibri"/>
              </a:rPr>
              <a:t>CelesTrak</a:t>
            </a:r>
            <a:r>
              <a:rPr lang="en-CA" sz="1600" dirty="0">
                <a:solidFill>
                  <a:srgbClr val="1D1D1A"/>
                </a:solidFill>
                <a:latin typeface="Calibri"/>
                <a:ea typeface="Calibri"/>
                <a:cs typeface="Calibri"/>
                <a:sym typeface="Calibri"/>
              </a:rPr>
              <a:t> to get LEO Starlink orbital elements </a:t>
            </a:r>
            <a:endParaRPr sz="1600" dirty="0">
              <a:solidFill>
                <a:srgbClr val="1D1D1A"/>
              </a:solidFill>
              <a:latin typeface="Calibri"/>
              <a:ea typeface="Calibri"/>
              <a:cs typeface="Calibri"/>
              <a:sym typeface="Calibri"/>
            </a:endParaR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a:blip r:embed="rIdTemplateBackground">
            <a:alphaModFix/>
          </a:blip>
          <a:stretch>
            <a:fillRect/>
          </a:stretch>
        </a:blipFill>
        <a:effectLst/>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C010777D-8D9D-4CFA-ABB4-A92CB3594579}"/>
              </a:ext>
            </a:extLst>
          </p:cNvPr>
          <p:cNvSpPr>
            <a:spLocks xmlns:a="http://schemas.openxmlformats.org/drawingml/2006/main" noGrp="1"/>
          </p:cNvSpPr>
          <p:nvPr/>
        </p:nvSpPr>
        <p:spPr>
          <a:xfrm xmlns:a="http://schemas.openxmlformats.org/drawingml/2006/main">
            <a:off x="723900" y="457200"/>
            <a:ext cx="10734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00" b="0">
                <a:solidFill>
                  <a:srgbClr val="1D1D1A"/>
                </a:solidFill>
                <a:latin typeface="Arial"/>
                <a:ea typeface="Arial"/>
                <a:cs typeface="Arial"/>
              </a:defRPr>
            </a:pPr>
            <a:r>
              <a:rPr sz="3200" b="0">
                <a:solidFill>
                  <a:srgbClr val="1D1D1A"/>
                </a:solidFill>
                <a:latin typeface="Arial"/>
                <a:ea typeface="Arial"/>
                <a:cs typeface="Arial"/>
              </a:rPr>
              <a:t>LEO model and datasets</a:t>
            </a:r>
          </a:p>
        </p:txBody>
      </p:sp>
      <p:sp>
        <p:nvSpPr>
          <p:cNvPr id="2" name="orbits-heading">
            <a:extLst xmlns:a="http://schemas.openxmlformats.org/drawingml/2006/main">
              <a:ext uri="{FF2B5EF4-FFF2-40B4-BE49-F238E27FC236}">
                <a16:creationId xmlns:a16="http://schemas.microsoft.com/office/drawing/2014/main" id="{AF829CD9-ADCD-4E55-9C40-2F4AE3524D85}"/>
              </a:ext>
            </a:extLst>
          </p:cNvPr>
          <p:cNvSpPr>
            <a:spLocks xmlns:a="http://schemas.openxmlformats.org/drawingml/2006/main" noGrp="1"/>
          </p:cNvSpPr>
          <p:nvPr/>
        </p:nvSpPr>
        <p:spPr>
          <a:xfrm xmlns:a="http://schemas.openxmlformats.org/drawingml/2006/main">
            <a:off x="723900" y="133350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hlinkClick xmlns:r="http://schemas.openxmlformats.org/officeDocument/2006/relationships" r:id="R0c23c6413c814579"/>
              </a:rPr>
              <a:t>CelesTrak Starlink GP/OMM orbital elements</a:t>
            </a:r>
          </a:p>
        </p:txBody>
      </p:sp>
      <p:sp>
        <p:nvSpPr>
          <p:cNvPr id="3" name="orbits-body">
            <a:extLst xmlns:a="http://schemas.openxmlformats.org/drawingml/2006/main">
              <a:ext uri="{FF2B5EF4-FFF2-40B4-BE49-F238E27FC236}">
                <a16:creationId xmlns:a16="http://schemas.microsoft.com/office/drawing/2014/main" id="{6B7E8FBC-3951-4193-BD72-6787FC28C92E}"/>
              </a:ext>
            </a:extLst>
          </p:cNvPr>
          <p:cNvSpPr>
            <a:spLocks xmlns:a="http://schemas.openxmlformats.org/drawingml/2006/main" noGrp="1"/>
          </p:cNvSpPr>
          <p:nvPr/>
        </p:nvSpPr>
        <p:spPr>
          <a:xfrm xmlns:a="http://schemas.openxmlformats.org/drawingml/2006/main">
            <a:off x="723900" y="163830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Propagate orbits with SGP4 near Mont-Tremblant. Calculate satellite visibility, range and Doppler.</a:t>
            </a:r>
          </a:p>
        </p:txBody>
      </p:sp>
      <p:sp>
        <p:nvSpPr>
          <p:cNvPr id="4" name="delay-heading">
            <a:extLst xmlns:a="http://schemas.openxmlformats.org/drawingml/2006/main">
              <a:ext uri="{FF2B5EF4-FFF2-40B4-BE49-F238E27FC236}">
                <a16:creationId xmlns:a16="http://schemas.microsoft.com/office/drawing/2014/main" id="{E88C932D-4A1C-45AC-B251-0F8FB5A25BFB}"/>
              </a:ext>
            </a:extLst>
          </p:cNvPr>
          <p:cNvSpPr>
            <a:spLocks xmlns:a="http://schemas.openxmlformats.org/drawingml/2006/main" noGrp="1"/>
          </p:cNvSpPr>
          <p:nvPr/>
        </p:nvSpPr>
        <p:spPr>
          <a:xfrm xmlns:a="http://schemas.openxmlformats.org/drawingml/2006/main">
            <a:off x="723900" y="241935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hlinkClick xmlns:r="http://schemas.openxmlformats.org/officeDocument/2006/relationships" r:id="R6a45a0b5c45742f5"/>
              </a:rPr>
              <a:t>Starlink One-way Delay dataset (Garcia &amp; Sundberg, 2025)</a:t>
            </a:r>
          </a:p>
        </p:txBody>
      </p:sp>
      <p:sp>
        <p:nvSpPr>
          <p:cNvPr id="5" name="delay-body">
            <a:extLst xmlns:a="http://schemas.openxmlformats.org/drawingml/2006/main">
              <a:ext uri="{FF2B5EF4-FFF2-40B4-BE49-F238E27FC236}">
                <a16:creationId xmlns:a16="http://schemas.microsoft.com/office/drawing/2014/main" id="{6D469ADF-1424-4A2D-9590-3E727EC4602C}"/>
              </a:ext>
            </a:extLst>
          </p:cNvPr>
          <p:cNvSpPr>
            <a:spLocks xmlns:a="http://schemas.openxmlformats.org/drawingml/2006/main" noGrp="1"/>
          </p:cNvSpPr>
          <p:nvPr/>
        </p:nvSpPr>
        <p:spPr>
          <a:xfrm xmlns:a="http://schemas.openxmlformats.org/drawingml/2006/main">
            <a:off x="723900" y="272415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Replay separate uplink and downlink traces. These measurements come from Sweden, so check their relevance to our remote site.</a:t>
            </a:r>
          </a:p>
        </p:txBody>
      </p:sp>
      <p:sp>
        <p:nvSpPr>
          <p:cNvPr id="6" name="contacts-heading">
            <a:extLst xmlns:a="http://schemas.openxmlformats.org/drawingml/2006/main">
              <a:ext uri="{FF2B5EF4-FFF2-40B4-BE49-F238E27FC236}">
                <a16:creationId xmlns:a16="http://schemas.microsoft.com/office/drawing/2014/main" id="{2029E9BF-A128-4687-B20F-24C9E6E61743}"/>
              </a:ext>
            </a:extLst>
          </p:cNvPr>
          <p:cNvSpPr>
            <a:spLocks xmlns:a="http://schemas.openxmlformats.org/drawingml/2006/main" noGrp="1"/>
          </p:cNvSpPr>
          <p:nvPr/>
        </p:nvSpPr>
        <p:spPr>
          <a:xfrm xmlns:a="http://schemas.openxmlformats.org/drawingml/2006/main">
            <a:off x="723900" y="350520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rPr>
              <a:t>Satellite contacts and individual handshakes</a:t>
            </a:r>
          </a:p>
        </p:txBody>
      </p:sp>
      <p:sp>
        <p:nvSpPr>
          <p:cNvPr id="7" name="contacts-body">
            <a:extLst xmlns:a="http://schemas.openxmlformats.org/drawingml/2006/main">
              <a:ext uri="{FF2B5EF4-FFF2-40B4-BE49-F238E27FC236}">
                <a16:creationId xmlns:a16="http://schemas.microsoft.com/office/drawing/2014/main" id="{1E593D6F-D149-481F-A71C-A3CC66AA31CC}"/>
              </a:ext>
            </a:extLst>
          </p:cNvPr>
          <p:cNvSpPr>
            <a:spLocks xmlns:a="http://schemas.openxmlformats.org/drawingml/2006/main" noGrp="1"/>
          </p:cNvSpPr>
          <p:nvPr/>
        </p:nvSpPr>
        <p:spPr>
          <a:xfrm xmlns:a="http://schemas.openxmlformats.org/drawingml/2006/main">
            <a:off x="723900" y="381000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Start with one satellite relay and an explicit ground station. Simulate contact changes, buffering and resumed forwarding.</a:t>
            </a:r>
          </a:p>
        </p:txBody>
      </p:sp>
      <p:sp>
        <p:nvSpPr>
          <p:cNvPr id="8" name="parameters-heading">
            <a:extLst xmlns:a="http://schemas.openxmlformats.org/drawingml/2006/main">
              <a:ext uri="{FF2B5EF4-FFF2-40B4-BE49-F238E27FC236}">
                <a16:creationId xmlns:a16="http://schemas.microsoft.com/office/drawing/2014/main" id="{A2AA580F-345B-4E56-8570-A55E07DB6278}"/>
              </a:ext>
            </a:extLst>
          </p:cNvPr>
          <p:cNvSpPr>
            <a:spLocks xmlns:a="http://schemas.openxmlformats.org/drawingml/2006/main" noGrp="1"/>
          </p:cNvSpPr>
          <p:nvPr/>
        </p:nvSpPr>
        <p:spPr>
          <a:xfrm xmlns:a="http://schemas.openxmlformats.org/drawingml/2006/main">
            <a:off x="723900" y="459105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rPr>
              <a:t>Parameters to define</a:t>
            </a:r>
          </a:p>
        </p:txBody>
      </p:sp>
      <p:sp>
        <p:nvSpPr>
          <p:cNvPr id="9" name="parameters-body">
            <a:extLst xmlns:a="http://schemas.openxmlformats.org/drawingml/2006/main">
              <a:ext uri="{FF2B5EF4-FFF2-40B4-BE49-F238E27FC236}">
                <a16:creationId xmlns:a16="http://schemas.microsoft.com/office/drawing/2014/main" id="{B6A03B2A-B620-4612-8129-90B05BF0369B}"/>
              </a:ext>
            </a:extLst>
          </p:cNvPr>
          <p:cNvSpPr>
            <a:spLocks xmlns:a="http://schemas.openxmlformats.org/drawingml/2006/main" noGrp="1"/>
          </p:cNvSpPr>
          <p:nvPr/>
        </p:nvSpPr>
        <p:spPr>
          <a:xfrm xmlns:a="http://schemas.openxmlformats.org/drawingml/2006/main">
            <a:off x="723900" y="489585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Keep bandwidth, transmit power, gateway selection and handshake duration explicit as simulation assumptions.</a:t>
            </a:r>
          </a:p>
        </p:txBody>
      </p:sp>
    </p:spTree>
    <p:extLst>
      <p:ext uri="{BB962C8B-B14F-4D97-AF65-F5344CB8AC3E}">
        <p14:creationId xmlns:p14="http://schemas.microsoft.com/office/powerpoint/2010/main" val="1893786071"/>
      </p:ext>
    </p:extLst>
  </p:cSld>
</p:sld>
</file>

<file path=ppt/slides/slide10.xml><?xml version="1.0" encoding="utf-8"?>
<p:sld xmlns:p="http://schemas.openxmlformats.org/presentationml/2006/main" xmlns:a="http://schemas.openxmlformats.org/drawingml/2006/main" xmlns:r="http://schemas.openxmlformats.org/officeDocument/2006/relationships">
  <p:cSld>
    <p:bg>
      <p:bgPr>
        <a:blipFill>
          <a:blip r:embed="rIdTemplateBackground">
            <a:alphaModFix/>
          </a:blip>
          <a:stretch>
            <a:fillRect/>
          </a:stretch>
        </a:blipFill>
        <a:effectLst/>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F62EE1D-8397-45E4-BE95-F955255586BD}"/>
              </a:ext>
            </a:extLst>
          </p:cNvPr>
          <p:cNvSpPr>
            <a:spLocks xmlns:a="http://schemas.openxmlformats.org/drawingml/2006/main" noGrp="1"/>
          </p:cNvSpPr>
          <p:nvPr/>
        </p:nvSpPr>
        <p:spPr>
          <a:xfrm xmlns:a="http://schemas.openxmlformats.org/drawingml/2006/main">
            <a:off x="723900" y="457200"/>
            <a:ext cx="10734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00" b="0">
                <a:solidFill>
                  <a:srgbClr val="1D1D1A"/>
                </a:solidFill>
                <a:latin typeface="Arial"/>
                <a:ea typeface="Arial"/>
                <a:cs typeface="Arial"/>
              </a:defRPr>
            </a:pPr>
            <a:r>
              <a:rPr sz="3200" b="0">
                <a:solidFill>
                  <a:srgbClr val="1D1D1A"/>
                </a:solidFill>
                <a:latin typeface="Arial"/>
                <a:ea typeface="Arial"/>
                <a:cs typeface="Arial"/>
              </a:rPr>
              <a:t>Transport integration and experiments</a:t>
            </a:r>
          </a:p>
        </p:txBody>
      </p:sp>
      <p:sp>
        <p:nvSpPr>
          <p:cNvPr id="2" name="route-heading">
            <a:extLst xmlns:a="http://schemas.openxmlformats.org/drawingml/2006/main">
              <a:ext uri="{FF2B5EF4-FFF2-40B4-BE49-F238E27FC236}">
                <a16:creationId xmlns:a16="http://schemas.microsoft.com/office/drawing/2014/main" id="{5F65527D-D749-4354-8CC7-D20FB6296DEB}"/>
              </a:ext>
            </a:extLst>
          </p:cNvPr>
          <p:cNvSpPr>
            <a:spLocks xmlns:a="http://schemas.openxmlformats.org/drawingml/2006/main" noGrp="1"/>
          </p:cNvSpPr>
          <p:nvPr/>
        </p:nvSpPr>
        <p:spPr>
          <a:xfrm xmlns:a="http://schemas.openxmlformats.org/drawingml/2006/main">
            <a:off x="723900" y="133350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rPr>
              <a:t>Cloud route and UAV processing</a:t>
            </a:r>
          </a:p>
        </p:txBody>
      </p:sp>
      <p:sp>
        <p:nvSpPr>
          <p:cNvPr id="3" name="route-body">
            <a:extLst xmlns:a="http://schemas.openxmlformats.org/drawingml/2006/main">
              <a:ext uri="{FF2B5EF4-FFF2-40B4-BE49-F238E27FC236}">
                <a16:creationId xmlns:a16="http://schemas.microsoft.com/office/drawing/2014/main" id="{3E172E73-0D0A-46C0-8C23-48F93A1CB38D}"/>
              </a:ext>
            </a:extLst>
          </p:cNvPr>
          <p:cNvSpPr>
            <a:spLocks xmlns:a="http://schemas.openxmlformats.org/drawingml/2006/main" noGrp="1"/>
          </p:cNvSpPr>
          <p:nvPr/>
        </p:nvSpPr>
        <p:spPr>
          <a:xfrm xmlns:a="http://schemas.openxmlformats.org/drawingml/2006/main">
            <a:off x="723900" y="163830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Cloud traffic passes through the robot, UAV, LEO relay and ground station. Compare this route with local UAV task processing.</a:t>
            </a:r>
          </a:p>
        </p:txBody>
      </p:sp>
      <p:sp>
        <p:nvSpPr>
          <p:cNvPr id="4" name="formulas-heading">
            <a:extLst xmlns:a="http://schemas.openxmlformats.org/drawingml/2006/main">
              <a:ext uri="{FF2B5EF4-FFF2-40B4-BE49-F238E27FC236}">
                <a16:creationId xmlns:a16="http://schemas.microsoft.com/office/drawing/2014/main" id="{AA44C4AF-84A9-4808-B5DA-B6537F80B436}"/>
              </a:ext>
            </a:extLst>
          </p:cNvPr>
          <p:cNvSpPr>
            <a:spLocks xmlns:a="http://schemas.openxmlformats.org/drawingml/2006/main" noGrp="1"/>
          </p:cNvSpPr>
          <p:nvPr/>
        </p:nvSpPr>
        <p:spPr>
          <a:xfrm xmlns:a="http://schemas.openxmlformats.org/drawingml/2006/main">
            <a:off x="723900" y="241935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rPr>
              <a:t>Rate and task latency from the paper</a:t>
            </a:r>
          </a:p>
        </p:txBody>
      </p:sp>
      <p:sp>
        <p:nvSpPr>
          <p:cNvPr id="5" name="formulas-body">
            <a:extLst xmlns:a="http://schemas.openxmlformats.org/drawingml/2006/main">
              <a:ext uri="{FF2B5EF4-FFF2-40B4-BE49-F238E27FC236}">
                <a16:creationId xmlns:a16="http://schemas.microsoft.com/office/drawing/2014/main" id="{DFC01906-1209-4C21-875A-31161BA2EAD4}"/>
              </a:ext>
            </a:extLst>
          </p:cNvPr>
          <p:cNvSpPr>
            <a:spLocks xmlns:a="http://schemas.openxmlformats.org/drawingml/2006/main" noGrp="1"/>
          </p:cNvSpPr>
          <p:nvPr/>
        </p:nvSpPr>
        <p:spPr>
          <a:xfrm xmlns:a="http://schemas.openxmlformats.org/drawingml/2006/main">
            <a:off x="723900" y="272415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Task Dᵢ = {sᵢ, cᵢ, τᵢ}. Link rate R = B log₂(1 + SNR). Transmission time sᵢ/R. Computation time sᵢcᵢ/f.</a:t>
            </a:r>
          </a:p>
        </p:txBody>
      </p:sp>
      <p:sp>
        <p:nvSpPr>
          <p:cNvPr id="6" name="latency-heading">
            <a:extLst xmlns:a="http://schemas.openxmlformats.org/drawingml/2006/main">
              <a:ext uri="{FF2B5EF4-FFF2-40B4-BE49-F238E27FC236}">
                <a16:creationId xmlns:a16="http://schemas.microsoft.com/office/drawing/2014/main" id="{8F769AA5-9293-4EFF-A6B1-30AF5CC56E45}"/>
              </a:ext>
            </a:extLst>
          </p:cNvPr>
          <p:cNvSpPr>
            <a:spLocks xmlns:a="http://schemas.openxmlformats.org/drawingml/2006/main" noGrp="1"/>
          </p:cNvSpPr>
          <p:nvPr/>
        </p:nvSpPr>
        <p:spPr>
          <a:xfrm xmlns:a="http://schemas.openxmlformats.org/drawingml/2006/main">
            <a:off x="723900" y="350520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rPr>
              <a:t>Complete the transport model</a:t>
            </a:r>
          </a:p>
        </p:txBody>
      </p:sp>
      <p:sp>
        <p:nvSpPr>
          <p:cNvPr id="7" name="latency-body">
            <a:extLst xmlns:a="http://schemas.openxmlformats.org/drawingml/2006/main">
              <a:ext uri="{FF2B5EF4-FFF2-40B4-BE49-F238E27FC236}">
                <a16:creationId xmlns:a16="http://schemas.microsoft.com/office/drawing/2014/main" id="{0F5552FF-854F-430C-92CE-8B8BA10F7F20}"/>
              </a:ext>
            </a:extLst>
          </p:cNvPr>
          <p:cNvSpPr>
            <a:spLocks xmlns:a="http://schemas.openxmlformats.org/drawingml/2006/main" noGrp="1"/>
          </p:cNvSpPr>
          <p:nvPr/>
        </p:nvSpPr>
        <p:spPr>
          <a:xfrm xmlns:a="http://schemas.openxmlformats.org/drawingml/2006/main">
            <a:off x="723900" y="381000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Add each link’s distance/c, queueing and handshake time. Include return traffic and shared uplink/downlink capacity.</a:t>
            </a:r>
          </a:p>
        </p:txBody>
      </p:sp>
      <p:sp>
        <p:nvSpPr>
          <p:cNvPr id="8" name="tests-heading">
            <a:extLst xmlns:a="http://schemas.openxmlformats.org/drawingml/2006/main">
              <a:ext uri="{FF2B5EF4-FFF2-40B4-BE49-F238E27FC236}">
                <a16:creationId xmlns:a16="http://schemas.microsoft.com/office/drawing/2014/main" id="{9A04DF82-2C51-4D86-B39C-3457CE5A69CD}"/>
              </a:ext>
            </a:extLst>
          </p:cNvPr>
          <p:cNvSpPr>
            <a:spLocks xmlns:a="http://schemas.openxmlformats.org/drawingml/2006/main" noGrp="1"/>
          </p:cNvSpPr>
          <p:nvPr/>
        </p:nvSpPr>
        <p:spPr>
          <a:xfrm xmlns:a="http://schemas.openxmlformats.org/drawingml/2006/main">
            <a:off x="723900" y="459105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1">
                <a:solidFill>
                  <a:srgbClr val="1D1D1A"/>
                </a:solidFill>
                <a:latin typeface="Calibri"/>
                <a:ea typeface="Calibri"/>
                <a:cs typeface="Calibri"/>
              </a:defRPr>
            </a:pPr>
            <a:r>
              <a:rPr sz="1600" b="1">
                <a:solidFill>
                  <a:srgbClr val="1D1D1A"/>
                </a:solidFill>
                <a:latin typeface="Calibri"/>
                <a:ea typeface="Calibri"/>
                <a:cs typeface="Calibri"/>
              </a:rPr>
              <a:t>Paired tests against perfect communication</a:t>
            </a:r>
          </a:p>
        </p:txBody>
      </p:sp>
      <p:sp>
        <p:nvSpPr>
          <p:cNvPr id="9" name="tests-body">
            <a:extLst xmlns:a="http://schemas.openxmlformats.org/drawingml/2006/main">
              <a:ext uri="{FF2B5EF4-FFF2-40B4-BE49-F238E27FC236}">
                <a16:creationId xmlns:a16="http://schemas.microsoft.com/office/drawing/2014/main" id="{85639CE2-48C2-4995-90CA-855842564EB4}"/>
              </a:ext>
            </a:extLst>
          </p:cNvPr>
          <p:cNvSpPr>
            <a:spLocks xmlns:a="http://schemas.openxmlformats.org/drawingml/2006/main" noGrp="1"/>
          </p:cNvSpPr>
          <p:nvPr/>
        </p:nvSpPr>
        <p:spPr>
          <a:xfrm xmlns:a="http://schemas.openxmlformats.org/drawingml/2006/main">
            <a:off x="723900" y="4895850"/>
            <a:ext cx="1073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00" b="0">
                <a:solidFill>
                  <a:srgbClr val="1D1D1A"/>
                </a:solidFill>
                <a:latin typeface="Calibri"/>
                <a:ea typeface="Calibri"/>
                <a:cs typeface="Calibri"/>
              </a:defRPr>
            </a:pPr>
            <a:r>
              <a:rPr sz="1600" b="0">
                <a:solidFill>
                  <a:srgbClr val="1D1D1A"/>
                </a:solidFill>
                <a:latin typeface="Calibri"/>
                <a:ea typeface="Calibri"/>
                <a:cs typeface="Calibri"/>
              </a:rPr>
              <a:t>Test stale mission caches and delayed experience/model delivery. Then compare FIFO with priority bandwidth and UAV/cloud offloading.</a:t>
            </a:r>
          </a:p>
        </p:txBody>
      </p:sp>
    </p:spTree>
    <p:extLst>
      <p:ext uri="{BB962C8B-B14F-4D97-AF65-F5344CB8AC3E}">
        <p14:creationId xmlns:p14="http://schemas.microsoft.com/office/powerpoint/2010/main" val="1386048307"/>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456</Words>
  <Application>Microsoft Macintosh PowerPoint</Application>
  <PresentationFormat>Widescreen</PresentationFormat>
  <Paragraphs>32</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Arman Dogru</dc:creator>
  <cp:lastModifiedBy>Arman Dogru</cp:lastModifiedBy>
  <cp:revision>25</cp:revision>
  <dcterms:modified xsi:type="dcterms:W3CDTF">2026-10-08T08:24:30Z</dcterms:modified>
</cp:coreProperties>
</file>